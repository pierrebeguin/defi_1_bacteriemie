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1677B2-F634-4304-97DA-977260802C01}">
  <a:tblStyle styleId="{051677B2-F634-4304-97DA-977260802C01}"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0e055c47e2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0e055c47e2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0e055c47e2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0e055c47e2_2_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0e055c47e2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0e055c47e2_2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e35bbf44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e35bbf44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e055c47e2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0e055c47e2_2_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0e35bbf44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0e35bbf44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0e35bbf44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0e35bbf44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0e35bbf44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0e35bbf44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0e35bbf44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0e35bbf44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0e35bbf44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0e35bbf44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0e35bbf44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0e35bbf44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0e35bbf44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0e35bbf44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e35bbf44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e35bbf44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0e055c47e2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0e055c47e2_2_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0e055c47e2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0e055c47e2_2_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0e055c47e2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0e055c47e2_2_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0e07af4c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0e07af4c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0e055c47e2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0e055c47e2_2_1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e055c47e2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0e055c47e2_2_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62" name="Shape 62"/>
        <p:cNvGrpSpPr/>
        <p:nvPr/>
      </p:nvGrpSpPr>
      <p:grpSpPr>
        <a:xfrm>
          <a:off x="0" y="0"/>
          <a:ext cx="0" cy="0"/>
          <a:chOff x="0" y="0"/>
          <a:chExt cx="0" cy="0"/>
        </a:xfrm>
      </p:grpSpPr>
      <p:sp>
        <p:nvSpPr>
          <p:cNvPr id="63" name="Google Shape;63;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1714"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25"/>
          <p:cNvSpPr txBox="1"/>
          <p:nvPr>
            <p:ph type="title"/>
          </p:nvPr>
        </p:nvSpPr>
        <p:spPr>
          <a:xfrm>
            <a:off x="480060" y="244027"/>
            <a:ext cx="3276452" cy="146763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Play"/>
              <a:buNone/>
            </a:pPr>
            <a:r>
              <a:rPr lang="fr" sz="4100"/>
              <a:t>Objectif :</a:t>
            </a:r>
            <a:endParaRPr/>
          </a:p>
        </p:txBody>
      </p:sp>
      <p:sp>
        <p:nvSpPr>
          <p:cNvPr id="131" name="Google Shape;131;p25"/>
          <p:cNvSpPr/>
          <p:nvPr/>
        </p:nvSpPr>
        <p:spPr>
          <a:xfrm>
            <a:off x="480060" y="1940246"/>
            <a:ext cx="2606040" cy="13716"/>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2" name="Google Shape;132;p25"/>
          <p:cNvSpPr txBox="1"/>
          <p:nvPr>
            <p:ph idx="1" type="body"/>
          </p:nvPr>
        </p:nvSpPr>
        <p:spPr>
          <a:xfrm>
            <a:off x="480060" y="2154674"/>
            <a:ext cx="3182692" cy="2490501"/>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300"/>
              <a:buNone/>
            </a:pPr>
            <a:r>
              <a:rPr b="0" lang="fr" sz="1300">
                <a:latin typeface="Courier New"/>
                <a:ea typeface="Courier New"/>
                <a:cs typeface="Courier New"/>
                <a:sym typeface="Courier New"/>
              </a:rPr>
              <a:t>Dans ce projet, nous visons à développer un modèle de prédiction permettant de détecter la survenue d'une bactériémie chez des patients hospitalisés présentant une suspicion clinique. Le modèle sera construit à partir d'un ensemble de données de 11 753 observations, contenant 51 variables prédictives, collectées à l'Hôpital général de Vienne entre 2006 et 2010.</a:t>
            </a:r>
            <a:endParaRPr/>
          </a:p>
        </p:txBody>
      </p:sp>
      <p:pic>
        <p:nvPicPr>
          <p:cNvPr descr="Une image contenant plein air, ciel, Bâtiment commercial, Usage mixte&#10;&#10;Description générée automatiquement" id="133" name="Google Shape;133;p25"/>
          <p:cNvPicPr preferRelativeResize="0"/>
          <p:nvPr/>
        </p:nvPicPr>
        <p:blipFill rotWithShape="1">
          <a:blip r:embed="rId3">
            <a:alphaModFix/>
          </a:blip>
          <a:srcRect b="-1" l="13444" r="9321" t="0"/>
          <a:stretch/>
        </p:blipFill>
        <p:spPr>
          <a:xfrm>
            <a:off x="3983777" y="8"/>
            <a:ext cx="5159081" cy="5143492"/>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6"/>
          <p:cNvSpPr/>
          <p:nvPr/>
        </p:nvSpPr>
        <p:spPr>
          <a:xfrm>
            <a:off x="0" y="0"/>
            <a:ext cx="9141714"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26"/>
          <p:cNvSpPr txBox="1"/>
          <p:nvPr>
            <p:ph type="title"/>
          </p:nvPr>
        </p:nvSpPr>
        <p:spPr>
          <a:xfrm>
            <a:off x="480060" y="244027"/>
            <a:ext cx="3276452" cy="146763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Play"/>
              <a:buNone/>
            </a:pPr>
            <a:r>
              <a:rPr lang="fr" sz="4100"/>
              <a:t>Méthode :</a:t>
            </a:r>
            <a:endParaRPr/>
          </a:p>
        </p:txBody>
      </p:sp>
      <p:sp>
        <p:nvSpPr>
          <p:cNvPr id="140" name="Google Shape;140;p26"/>
          <p:cNvSpPr/>
          <p:nvPr/>
        </p:nvSpPr>
        <p:spPr>
          <a:xfrm>
            <a:off x="480060" y="1940246"/>
            <a:ext cx="2606040" cy="13716"/>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26"/>
          <p:cNvSpPr txBox="1"/>
          <p:nvPr>
            <p:ph idx="1" type="body"/>
          </p:nvPr>
        </p:nvSpPr>
        <p:spPr>
          <a:xfrm>
            <a:off x="480060" y="2154674"/>
            <a:ext cx="3182692" cy="2490501"/>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100"/>
              <a:buNone/>
            </a:pPr>
            <a:r>
              <a:rPr b="0" lang="fr" sz="1100">
                <a:latin typeface="Courier New"/>
                <a:ea typeface="Courier New"/>
                <a:cs typeface="Courier New"/>
                <a:sym typeface="Courier New"/>
              </a:rPr>
              <a:t>Notre approche implique le prétraitement des données, incluant la gestion des valeurs manquantes, la normalisation des variables pertinentes et l'encodage des variables catégorielles. Nous testerons plusieurs algorithmes de machine learning, tels que les régressions logistiques, les forêts aléatoires, et les réseaux de neurones, afin d'identifier le modèle offrant les meilleures performances en termes de F1-score. Une validation croisée sera utilisée pour évaluer la robustesse du modèle.</a:t>
            </a:r>
            <a:endParaRPr/>
          </a:p>
          <a:p>
            <a:pPr indent="-114300" lvl="0" marL="177800" rtl="0" algn="l">
              <a:lnSpc>
                <a:spcPct val="90000"/>
              </a:lnSpc>
              <a:spcBef>
                <a:spcPts val="800"/>
              </a:spcBef>
              <a:spcAft>
                <a:spcPts val="0"/>
              </a:spcAft>
              <a:buClr>
                <a:schemeClr val="dk1"/>
              </a:buClr>
              <a:buSzPts val="1100"/>
              <a:buNone/>
            </a:pPr>
            <a:r>
              <a:t/>
            </a:r>
            <a:endParaRPr sz="1100"/>
          </a:p>
        </p:txBody>
      </p:sp>
      <p:pic>
        <p:nvPicPr>
          <p:cNvPr descr="What is Machine Learning? Machine Learning Technique Complete Guide" id="142" name="Google Shape;142;p26"/>
          <p:cNvPicPr preferRelativeResize="0"/>
          <p:nvPr/>
        </p:nvPicPr>
        <p:blipFill rotWithShape="1">
          <a:blip r:embed="rId3">
            <a:alphaModFix/>
          </a:blip>
          <a:srcRect b="-1" l="19758" r="0" t="0"/>
          <a:stretch/>
        </p:blipFill>
        <p:spPr>
          <a:xfrm>
            <a:off x="3983777" y="8"/>
            <a:ext cx="5159081" cy="5143492"/>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27"/>
          <p:cNvSpPr/>
          <p:nvPr/>
        </p:nvSpPr>
        <p:spPr>
          <a:xfrm>
            <a:off x="0" y="0"/>
            <a:ext cx="9141714"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27"/>
          <p:cNvSpPr txBox="1"/>
          <p:nvPr>
            <p:ph type="title"/>
          </p:nvPr>
        </p:nvSpPr>
        <p:spPr>
          <a:xfrm>
            <a:off x="480060" y="244027"/>
            <a:ext cx="3276452" cy="146763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Play"/>
              <a:buNone/>
            </a:pPr>
            <a:r>
              <a:rPr lang="fr" sz="4100"/>
              <a:t>Evaluation :</a:t>
            </a:r>
            <a:endParaRPr/>
          </a:p>
        </p:txBody>
      </p:sp>
      <p:sp>
        <p:nvSpPr>
          <p:cNvPr id="149" name="Google Shape;149;p27"/>
          <p:cNvSpPr/>
          <p:nvPr/>
        </p:nvSpPr>
        <p:spPr>
          <a:xfrm>
            <a:off x="480060" y="1940246"/>
            <a:ext cx="2606040" cy="13716"/>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27"/>
          <p:cNvSpPr txBox="1"/>
          <p:nvPr>
            <p:ph idx="1" type="body"/>
          </p:nvPr>
        </p:nvSpPr>
        <p:spPr>
          <a:xfrm>
            <a:off x="480060" y="2154674"/>
            <a:ext cx="3182692" cy="2490501"/>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300"/>
              <a:buNone/>
            </a:pPr>
            <a:r>
              <a:rPr b="0" lang="fr" sz="1300">
                <a:latin typeface="Courier New"/>
                <a:ea typeface="Courier New"/>
                <a:cs typeface="Courier New"/>
                <a:sym typeface="Courier New"/>
              </a:rPr>
              <a:t>Les performances du modèle seront comparées en utilisant principalement le F1 score, avec un accent sur la précision et le rappel pour garantir une bonne capacité de généralisation. Le modèle final sera implémenté dans un script Python capable de prédire la survenue d'une bactériémie (0 ou 1) à partir d'un fichier de données d'entrée similaire.</a:t>
            </a:r>
            <a:endParaRPr/>
          </a:p>
          <a:p>
            <a:pPr indent="0" lvl="0" marL="0" rtl="0" algn="l">
              <a:lnSpc>
                <a:spcPct val="90000"/>
              </a:lnSpc>
              <a:spcBef>
                <a:spcPts val="800"/>
              </a:spcBef>
              <a:spcAft>
                <a:spcPts val="0"/>
              </a:spcAft>
              <a:buClr>
                <a:schemeClr val="dk1"/>
              </a:buClr>
              <a:buSzPts val="1300"/>
              <a:buNone/>
            </a:pPr>
            <a:r>
              <a:t/>
            </a:r>
            <a:endParaRPr sz="1300"/>
          </a:p>
        </p:txBody>
      </p:sp>
      <p:pic>
        <p:nvPicPr>
          <p:cNvPr descr="Une image contenant horloge, conception, illustration&#10;&#10;Description générée automatiquement" id="151" name="Google Shape;151;p27"/>
          <p:cNvPicPr preferRelativeResize="0"/>
          <p:nvPr/>
        </p:nvPicPr>
        <p:blipFill rotWithShape="1">
          <a:blip r:embed="rId3">
            <a:alphaModFix/>
          </a:blip>
          <a:srcRect b="0" l="0" r="0" t="0"/>
          <a:stretch/>
        </p:blipFill>
        <p:spPr>
          <a:xfrm>
            <a:off x="4078562" y="340499"/>
            <a:ext cx="4807022" cy="4624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a:t>Importation et exploration des données</a:t>
            </a:r>
            <a:endParaRPr/>
          </a:p>
        </p:txBody>
      </p:sp>
      <p:sp>
        <p:nvSpPr>
          <p:cNvPr id="157" name="Google Shape;157;p2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158" name="Google Shape;158;p28"/>
          <p:cNvPicPr preferRelativeResize="0"/>
          <p:nvPr/>
        </p:nvPicPr>
        <p:blipFill>
          <a:blip r:embed="rId3">
            <a:alphaModFix/>
          </a:blip>
          <a:stretch>
            <a:fillRect/>
          </a:stretch>
        </p:blipFill>
        <p:spPr>
          <a:xfrm>
            <a:off x="697200" y="1447875"/>
            <a:ext cx="6458800" cy="3112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2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29"/>
          <p:cNvSpPr/>
          <p:nvPr/>
        </p:nvSpPr>
        <p:spPr>
          <a:xfrm>
            <a:off x="7139353" y="4114800"/>
            <a:ext cx="2004647" cy="10287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5" name="Google Shape;165;p29"/>
          <p:cNvSpPr txBox="1"/>
          <p:nvPr>
            <p:ph type="title"/>
          </p:nvPr>
        </p:nvSpPr>
        <p:spPr>
          <a:xfrm>
            <a:off x="628651" y="359620"/>
            <a:ext cx="394335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fr"/>
              <a:t>Exploration des données:</a:t>
            </a:r>
            <a:endParaRPr/>
          </a:p>
        </p:txBody>
      </p:sp>
      <p:sp>
        <p:nvSpPr>
          <p:cNvPr id="166" name="Google Shape;166;p29"/>
          <p:cNvSpPr txBox="1"/>
          <p:nvPr>
            <p:ph idx="1" type="body"/>
          </p:nvPr>
        </p:nvSpPr>
        <p:spPr>
          <a:xfrm flipH="1" rot="10800000">
            <a:off x="628650" y="4632750"/>
            <a:ext cx="1482300" cy="557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Clr>
                <a:srgbClr val="000000"/>
              </a:buClr>
              <a:buSzPts val="800"/>
              <a:buNone/>
            </a:pPr>
            <a:r>
              <a:t/>
            </a:r>
            <a:endParaRPr/>
          </a:p>
        </p:txBody>
      </p:sp>
      <p:graphicFrame>
        <p:nvGraphicFramePr>
          <p:cNvPr id="167" name="Google Shape;167;p29"/>
          <p:cNvGraphicFramePr/>
          <p:nvPr/>
        </p:nvGraphicFramePr>
        <p:xfrm>
          <a:off x="4449048" y="2207817"/>
          <a:ext cx="3000000" cy="3000000"/>
        </p:xfrm>
        <a:graphic>
          <a:graphicData uri="http://schemas.openxmlformats.org/drawingml/2006/table">
            <a:tbl>
              <a:tblPr bandRow="1" firstRow="1">
                <a:noFill/>
                <a:tableStyleId>{051677B2-F634-4304-97DA-977260802C01}</a:tableStyleId>
              </a:tblPr>
              <a:tblGrid>
                <a:gridCol w="1350050"/>
                <a:gridCol w="3155050"/>
              </a:tblGrid>
              <a:tr h="424875">
                <a:tc gridSpan="2">
                  <a:txBody>
                    <a:bodyPr/>
                    <a:lstStyle/>
                    <a:p>
                      <a:pPr indent="0" lvl="0" marL="0" marR="0" rtl="0" algn="l">
                        <a:spcBef>
                          <a:spcPts val="0"/>
                        </a:spcBef>
                        <a:spcAft>
                          <a:spcPts val="0"/>
                        </a:spcAft>
                        <a:buNone/>
                      </a:pPr>
                      <a:r>
                        <a:rPr lang="fr" sz="1100"/>
                        <a:t>                   Base de donnée bactériémie (df)</a:t>
                      </a:r>
                      <a:endParaRPr sz="1100"/>
                    </a:p>
                  </a:txBody>
                  <a:tcPr marT="62875" marB="62875" marR="125750" marL="125750"/>
                </a:tc>
                <a:tc hMerge="1"/>
              </a:tr>
              <a:tr h="424875">
                <a:tc>
                  <a:txBody>
                    <a:bodyPr/>
                    <a:lstStyle/>
                    <a:p>
                      <a:pPr indent="0" lvl="0" marL="0" marR="0" rtl="0" algn="l">
                        <a:spcBef>
                          <a:spcPts val="0"/>
                        </a:spcBef>
                        <a:spcAft>
                          <a:spcPts val="0"/>
                        </a:spcAft>
                        <a:buNone/>
                      </a:pPr>
                      <a:r>
                        <a:rPr lang="fr" sz="2500"/>
                        <a:t>rows</a:t>
                      </a:r>
                      <a:endParaRPr sz="1100"/>
                    </a:p>
                  </a:txBody>
                  <a:tcPr marT="62875" marB="62875" marR="125750" marL="125750"/>
                </a:tc>
                <a:tc>
                  <a:txBody>
                    <a:bodyPr/>
                    <a:lstStyle/>
                    <a:p>
                      <a:pPr indent="0" lvl="0" marL="0" marR="0" rtl="0" algn="l">
                        <a:spcBef>
                          <a:spcPts val="0"/>
                        </a:spcBef>
                        <a:spcAft>
                          <a:spcPts val="0"/>
                        </a:spcAft>
                        <a:buNone/>
                      </a:pPr>
                      <a:r>
                        <a:rPr lang="fr" sz="2500"/>
                        <a:t>11753</a:t>
                      </a:r>
                      <a:endParaRPr sz="1100"/>
                    </a:p>
                  </a:txBody>
                  <a:tcPr marT="62875" marB="62875" marR="125750" marL="125750"/>
                </a:tc>
              </a:tr>
              <a:tr h="424875">
                <a:tc>
                  <a:txBody>
                    <a:bodyPr/>
                    <a:lstStyle/>
                    <a:p>
                      <a:pPr indent="0" lvl="0" marL="0" marR="0" rtl="0" algn="l">
                        <a:spcBef>
                          <a:spcPts val="0"/>
                        </a:spcBef>
                        <a:spcAft>
                          <a:spcPts val="0"/>
                        </a:spcAft>
                        <a:buNone/>
                      </a:pPr>
                      <a:r>
                        <a:rPr lang="fr" sz="2500"/>
                        <a:t>columns</a:t>
                      </a:r>
                      <a:endParaRPr sz="1100"/>
                    </a:p>
                  </a:txBody>
                  <a:tcPr marT="62875" marB="62875" marR="125750" marL="125750"/>
                </a:tc>
                <a:tc>
                  <a:txBody>
                    <a:bodyPr/>
                    <a:lstStyle/>
                    <a:p>
                      <a:pPr indent="0" lvl="0" marL="0" marR="0" rtl="0" algn="l">
                        <a:spcBef>
                          <a:spcPts val="0"/>
                        </a:spcBef>
                        <a:spcAft>
                          <a:spcPts val="0"/>
                        </a:spcAft>
                        <a:buNone/>
                      </a:pPr>
                      <a:r>
                        <a:rPr lang="fr" sz="2500"/>
                        <a:t>53</a:t>
                      </a:r>
                      <a:endParaRPr sz="1100"/>
                    </a:p>
                  </a:txBody>
                  <a:tcPr marT="62875" marB="62875" marR="125750" marL="125750"/>
                </a:tc>
              </a:tr>
            </a:tbl>
          </a:graphicData>
        </a:graphic>
      </p:graphicFrame>
      <p:pic>
        <p:nvPicPr>
          <p:cNvPr id="168" name="Google Shape;168;p29"/>
          <p:cNvPicPr preferRelativeResize="0"/>
          <p:nvPr/>
        </p:nvPicPr>
        <p:blipFill>
          <a:blip r:embed="rId3">
            <a:alphaModFix/>
          </a:blip>
          <a:stretch>
            <a:fillRect/>
          </a:stretch>
        </p:blipFill>
        <p:spPr>
          <a:xfrm>
            <a:off x="534800" y="1511188"/>
            <a:ext cx="3743325" cy="2964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fr"/>
              <a:t>Vérification des valeurs manquantes </a:t>
            </a:r>
            <a:endParaRPr/>
          </a:p>
          <a:p>
            <a:pPr indent="0" lvl="0" marL="0" rtl="0" algn="l">
              <a:spcBef>
                <a:spcPts val="0"/>
              </a:spcBef>
              <a:spcAft>
                <a:spcPts val="0"/>
              </a:spcAft>
              <a:buNone/>
            </a:pPr>
            <a:r>
              <a:t/>
            </a:r>
            <a:endParaRPr/>
          </a:p>
        </p:txBody>
      </p:sp>
      <p:pic>
        <p:nvPicPr>
          <p:cNvPr id="174" name="Google Shape;174;p30"/>
          <p:cNvPicPr preferRelativeResize="0"/>
          <p:nvPr/>
        </p:nvPicPr>
        <p:blipFill>
          <a:blip r:embed="rId3">
            <a:alphaModFix/>
          </a:blip>
          <a:stretch>
            <a:fillRect/>
          </a:stretch>
        </p:blipFill>
        <p:spPr>
          <a:xfrm>
            <a:off x="729250" y="1847050"/>
            <a:ext cx="7634224" cy="196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a:t>Nombre de valeurs manquantes</a:t>
            </a:r>
            <a:endParaRPr/>
          </a:p>
        </p:txBody>
      </p:sp>
      <p:pic>
        <p:nvPicPr>
          <p:cNvPr id="180" name="Google Shape;180;p31"/>
          <p:cNvPicPr preferRelativeResize="0"/>
          <p:nvPr/>
        </p:nvPicPr>
        <p:blipFill>
          <a:blip r:embed="rId3">
            <a:alphaModFix/>
          </a:blip>
          <a:stretch>
            <a:fillRect/>
          </a:stretch>
        </p:blipFill>
        <p:spPr>
          <a:xfrm>
            <a:off x="857425" y="1373025"/>
            <a:ext cx="4757151" cy="4144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a:t>Colonne Bloodculture 0-1</a:t>
            </a:r>
            <a:endParaRPr/>
          </a:p>
        </p:txBody>
      </p:sp>
      <p:pic>
        <p:nvPicPr>
          <p:cNvPr id="186" name="Google Shape;186;p32"/>
          <p:cNvPicPr preferRelativeResize="0"/>
          <p:nvPr/>
        </p:nvPicPr>
        <p:blipFill>
          <a:blip r:embed="rId3">
            <a:alphaModFix/>
          </a:blip>
          <a:stretch>
            <a:fillRect/>
          </a:stretch>
        </p:blipFill>
        <p:spPr>
          <a:xfrm>
            <a:off x="942875" y="1369225"/>
            <a:ext cx="7255849" cy="4200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3"/>
          <p:cNvPicPr preferRelativeResize="0"/>
          <p:nvPr/>
        </p:nvPicPr>
        <p:blipFill>
          <a:blip r:embed="rId3">
            <a:alphaModFix/>
          </a:blip>
          <a:stretch>
            <a:fillRect/>
          </a:stretch>
        </p:blipFill>
        <p:spPr>
          <a:xfrm>
            <a:off x="152400" y="152400"/>
            <a:ext cx="7555901" cy="53795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a:t>Valeurs manquantes après traitements</a:t>
            </a:r>
            <a:endParaRPr/>
          </a:p>
        </p:txBody>
      </p:sp>
      <p:sp>
        <p:nvSpPr>
          <p:cNvPr id="197" name="Google Shape;197;p3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198" name="Google Shape;198;p34"/>
          <p:cNvPicPr preferRelativeResize="0"/>
          <p:nvPr/>
        </p:nvPicPr>
        <p:blipFill>
          <a:blip r:embed="rId3">
            <a:alphaModFix/>
          </a:blip>
          <a:stretch>
            <a:fillRect/>
          </a:stretch>
        </p:blipFill>
        <p:spPr>
          <a:xfrm>
            <a:off x="1085325" y="1450475"/>
            <a:ext cx="4871100" cy="45657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5"/>
          <p:cNvPicPr preferRelativeResize="0"/>
          <p:nvPr/>
        </p:nvPicPr>
        <p:blipFill>
          <a:blip r:embed="rId3">
            <a:alphaModFix/>
          </a:blip>
          <a:stretch>
            <a:fillRect/>
          </a:stretch>
        </p:blipFill>
        <p:spPr>
          <a:xfrm>
            <a:off x="152400" y="0"/>
            <a:ext cx="8839199" cy="49148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6"/>
          <p:cNvPicPr preferRelativeResize="0"/>
          <p:nvPr/>
        </p:nvPicPr>
        <p:blipFill>
          <a:blip r:embed="rId3">
            <a:alphaModFix/>
          </a:blip>
          <a:stretch>
            <a:fillRect/>
          </a:stretch>
        </p:blipFill>
        <p:spPr>
          <a:xfrm>
            <a:off x="90850" y="152400"/>
            <a:ext cx="8900750" cy="4381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fr"/>
              <a:t>Résultats</a:t>
            </a:r>
            <a:endParaRPr/>
          </a:p>
        </p:txBody>
      </p:sp>
      <p:sp>
        <p:nvSpPr>
          <p:cNvPr id="214" name="Google Shape;214;p3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215" name="Google Shape;215;p37"/>
          <p:cNvPicPr preferRelativeResize="0"/>
          <p:nvPr/>
        </p:nvPicPr>
        <p:blipFill>
          <a:blip r:embed="rId3">
            <a:alphaModFix/>
          </a:blip>
          <a:stretch>
            <a:fillRect/>
          </a:stretch>
        </p:blipFill>
        <p:spPr>
          <a:xfrm>
            <a:off x="2596650" y="643300"/>
            <a:ext cx="5725199" cy="5143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38"/>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38"/>
          <p:cNvSpPr txBox="1"/>
          <p:nvPr>
            <p:ph type="title"/>
          </p:nvPr>
        </p:nvSpPr>
        <p:spPr>
          <a:xfrm>
            <a:off x="483800" y="547875"/>
            <a:ext cx="3575700" cy="4968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Play"/>
              <a:buNone/>
            </a:pPr>
            <a:r>
              <a:rPr b="0" lang="fr" sz="1800">
                <a:solidFill>
                  <a:schemeClr val="dk1"/>
                </a:solidFill>
                <a:latin typeface="Play"/>
                <a:ea typeface="Play"/>
                <a:cs typeface="Play"/>
                <a:sym typeface="Play"/>
              </a:rPr>
              <a:t>imputer + standardiser + SMOTE</a:t>
            </a:r>
            <a:endParaRPr sz="1800">
              <a:solidFill>
                <a:schemeClr val="dk1"/>
              </a:solidFill>
              <a:latin typeface="Play"/>
              <a:ea typeface="Play"/>
              <a:cs typeface="Play"/>
              <a:sym typeface="Play"/>
            </a:endParaRPr>
          </a:p>
        </p:txBody>
      </p:sp>
      <p:sp>
        <p:nvSpPr>
          <p:cNvPr id="222" name="Google Shape;222;p38"/>
          <p:cNvSpPr/>
          <p:nvPr/>
        </p:nvSpPr>
        <p:spPr>
          <a:xfrm flipH="1">
            <a:off x="462400" y="1458685"/>
            <a:ext cx="3017520" cy="20574"/>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3" name="Google Shape;223;p38"/>
          <p:cNvSpPr txBox="1"/>
          <p:nvPr/>
        </p:nvSpPr>
        <p:spPr>
          <a:xfrm>
            <a:off x="483800" y="1523326"/>
            <a:ext cx="3212238" cy="2633957"/>
          </a:xfrm>
          <a:prstGeom prst="rect">
            <a:avLst/>
          </a:prstGeom>
          <a:noFill/>
          <a:ln>
            <a:noFill/>
          </a:ln>
        </p:spPr>
        <p:txBody>
          <a:bodyPr anchorCtr="0" anchor="ctr" bIns="34275" lIns="68575" spcFirstLastPara="1" rIns="68575" wrap="square" tIns="34275">
            <a:normAutofit lnSpcReduction="10000"/>
          </a:bodyPr>
          <a:lstStyle/>
          <a:p>
            <a:pPr indent="0" lvl="0" marL="0" marR="0" rtl="0" algn="l">
              <a:lnSpc>
                <a:spcPct val="90000"/>
              </a:lnSpc>
              <a:spcBef>
                <a:spcPts val="0"/>
              </a:spcBef>
              <a:spcAft>
                <a:spcPts val="0"/>
              </a:spcAft>
              <a:buNone/>
            </a:pPr>
            <a:r>
              <a:rPr b="0" i="0" lang="fr" sz="1000" u="none" cap="none" strike="noStrike">
                <a:solidFill>
                  <a:schemeClr val="dk1"/>
                </a:solidFill>
                <a:latin typeface="Arial"/>
                <a:ea typeface="Arial"/>
                <a:cs typeface="Arial"/>
                <a:sym typeface="Arial"/>
              </a:rPr>
              <a:t># Remplacer les NA par la médiane</a:t>
            </a:r>
            <a:endParaRPr b="0" i="0" sz="1000" u="none" cap="none" strike="noStrike">
              <a:solidFill>
                <a:schemeClr val="dk1"/>
              </a:solidFill>
              <a:latin typeface="Arial"/>
              <a:ea typeface="Arial"/>
              <a:cs typeface="Arial"/>
              <a:sym typeface="Arial"/>
            </a:endParaRPr>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imputer = SimpleImputer(strategy='median')</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X_train = imputer.fit_transform(X_train)</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X_test = imputer.transform(X_test)</a:t>
            </a:r>
            <a:endParaRPr sz="1100"/>
          </a:p>
          <a:p>
            <a:pPr indent="0" lvl="0" marL="0" marR="0" rtl="0" algn="l">
              <a:lnSpc>
                <a:spcPct val="90000"/>
              </a:lnSpc>
              <a:spcBef>
                <a:spcPts val="500"/>
              </a:spcBef>
              <a:spcAft>
                <a:spcPts val="0"/>
              </a:spcAft>
              <a:buNone/>
            </a:pPr>
            <a:br>
              <a:rPr b="0" i="0" lang="fr" sz="1000" u="none" cap="none" strike="noStrike">
                <a:solidFill>
                  <a:schemeClr val="dk1"/>
                </a:solidFill>
                <a:latin typeface="Arial"/>
                <a:ea typeface="Arial"/>
                <a:cs typeface="Arial"/>
                <a:sym typeface="Arial"/>
              </a:rPr>
            </a:br>
            <a:r>
              <a:rPr b="0" i="0" lang="fr" sz="1000" u="none" cap="none" strike="noStrike">
                <a:solidFill>
                  <a:schemeClr val="dk1"/>
                </a:solidFill>
                <a:latin typeface="Arial"/>
                <a:ea typeface="Arial"/>
                <a:cs typeface="Arial"/>
                <a:sym typeface="Arial"/>
              </a:rPr>
              <a:t>#Standardisation</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scaler = StandardScaler()</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X_train = scaler.fit_transform(X_train)</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X_test = scaler.transform(X_test)</a:t>
            </a:r>
            <a:endParaRPr sz="1100"/>
          </a:p>
          <a:p>
            <a:pPr indent="0" lvl="0" marL="0" marR="0" rtl="0" algn="l">
              <a:lnSpc>
                <a:spcPct val="90000"/>
              </a:lnSpc>
              <a:spcBef>
                <a:spcPts val="500"/>
              </a:spcBef>
              <a:spcAft>
                <a:spcPts val="0"/>
              </a:spcAft>
              <a:buNone/>
            </a:pPr>
            <a:br>
              <a:rPr b="0" i="0" lang="fr" sz="1000" u="none" cap="none" strike="noStrike">
                <a:solidFill>
                  <a:schemeClr val="dk1"/>
                </a:solidFill>
                <a:latin typeface="Arial"/>
                <a:ea typeface="Arial"/>
                <a:cs typeface="Arial"/>
                <a:sym typeface="Arial"/>
              </a:rPr>
            </a:br>
            <a:r>
              <a:rPr b="0" i="0" lang="fr" sz="1000" u="none" cap="none" strike="noStrike">
                <a:solidFill>
                  <a:schemeClr val="dk1"/>
                </a:solidFill>
                <a:latin typeface="Arial"/>
                <a:ea typeface="Arial"/>
                <a:cs typeface="Arial"/>
                <a:sym typeface="Arial"/>
              </a:rPr>
              <a:t># SMOTE pour gérer le déséquilibre des classes</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smote = SMOTE(random_state=42)</a:t>
            </a:r>
            <a:endParaRPr sz="1100"/>
          </a:p>
          <a:p>
            <a:pPr indent="0" lvl="0" marL="0" marR="0" rtl="0" algn="l">
              <a:lnSpc>
                <a:spcPct val="90000"/>
              </a:lnSpc>
              <a:spcBef>
                <a:spcPts val="500"/>
              </a:spcBef>
              <a:spcAft>
                <a:spcPts val="0"/>
              </a:spcAft>
              <a:buNone/>
            </a:pPr>
            <a:r>
              <a:rPr b="0" i="0" lang="fr" sz="1000" u="none" cap="none" strike="noStrike">
                <a:solidFill>
                  <a:schemeClr val="dk1"/>
                </a:solidFill>
                <a:latin typeface="Arial"/>
                <a:ea typeface="Arial"/>
                <a:cs typeface="Arial"/>
                <a:sym typeface="Arial"/>
              </a:rPr>
              <a:t>X_train, y_train = smote.fit_resample(X_train, y_train)</a:t>
            </a:r>
            <a:endParaRPr sz="1100"/>
          </a:p>
          <a:p>
            <a:pPr indent="0" lvl="0" marL="0" marR="0" rtl="0" algn="l">
              <a:lnSpc>
                <a:spcPct val="90000"/>
              </a:lnSpc>
              <a:spcBef>
                <a:spcPts val="500"/>
              </a:spcBef>
              <a:spcAft>
                <a:spcPts val="0"/>
              </a:spcAft>
              <a:buNone/>
            </a:pPr>
            <a:r>
              <a:t/>
            </a:r>
            <a:endParaRPr b="0" i="0" sz="1000" u="none" cap="none" strike="noStrike">
              <a:solidFill>
                <a:schemeClr val="dk1"/>
              </a:solidFill>
              <a:latin typeface="Arial"/>
              <a:ea typeface="Arial"/>
              <a:cs typeface="Arial"/>
              <a:sym typeface="Arial"/>
            </a:endParaRPr>
          </a:p>
        </p:txBody>
      </p:sp>
      <p:sp>
        <p:nvSpPr>
          <p:cNvPr id="224" name="Google Shape;224;p38"/>
          <p:cNvSpPr/>
          <p:nvPr/>
        </p:nvSpPr>
        <p:spPr>
          <a:xfrm rot="5400000">
            <a:off x="-169382" y="4540020"/>
            <a:ext cx="555498" cy="115593"/>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5" name="Google Shape;225;p38"/>
          <p:cNvSpPr/>
          <p:nvPr/>
        </p:nvSpPr>
        <p:spPr>
          <a:xfrm rot="5400000">
            <a:off x="4428692" y="161401"/>
            <a:ext cx="555498" cy="8875118"/>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6" name="Google Shape;226;p38"/>
          <p:cNvSpPr/>
          <p:nvPr/>
        </p:nvSpPr>
        <p:spPr>
          <a:xfrm>
            <a:off x="4272595" y="266219"/>
            <a:ext cx="4638730" cy="4436409"/>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Gérer le déséquilibre des classes dans un jeu de données" id="227" name="Google Shape;227;p38"/>
          <p:cNvPicPr preferRelativeResize="0"/>
          <p:nvPr/>
        </p:nvPicPr>
        <p:blipFill rotWithShape="1">
          <a:blip r:embed="rId3">
            <a:alphaModFix/>
          </a:blip>
          <a:srcRect b="0" l="0" r="0" t="0"/>
          <a:stretch/>
        </p:blipFill>
        <p:spPr>
          <a:xfrm>
            <a:off x="4490803" y="1108007"/>
            <a:ext cx="4221014" cy="27528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9"/>
          <p:cNvSpPr txBox="1"/>
          <p:nvPr>
            <p:ph idx="1" type="body"/>
          </p:nvPr>
        </p:nvSpPr>
        <p:spPr>
          <a:xfrm>
            <a:off x="398207" y="368710"/>
            <a:ext cx="8259097" cy="4431890"/>
          </a:xfrm>
          <a:prstGeom prst="rect">
            <a:avLst/>
          </a:prstGeom>
          <a:noFill/>
          <a:ln>
            <a:noFill/>
          </a:ln>
        </p:spPr>
        <p:txBody>
          <a:bodyPr anchorCtr="0" anchor="t" bIns="34275" lIns="68575" spcFirstLastPara="1" rIns="68575" wrap="square" tIns="34275">
            <a:normAutofit fontScale="55000" lnSpcReduction="20000"/>
          </a:bodyPr>
          <a:lstStyle/>
          <a:p>
            <a:pPr indent="0" lvl="0" marL="0" rtl="0" algn="l">
              <a:lnSpc>
                <a:spcPct val="90000"/>
              </a:lnSpc>
              <a:spcBef>
                <a:spcPts val="0"/>
              </a:spcBef>
              <a:spcAft>
                <a:spcPts val="0"/>
              </a:spcAft>
              <a:buClr>
                <a:srgbClr val="008000"/>
              </a:buClr>
              <a:buSzPct val="100000"/>
              <a:buNone/>
            </a:pPr>
            <a:r>
              <a:rPr b="0" lang="fr">
                <a:solidFill>
                  <a:srgbClr val="008000"/>
                </a:solidFill>
                <a:latin typeface="Courier New"/>
                <a:ea typeface="Courier New"/>
                <a:cs typeface="Courier New"/>
                <a:sym typeface="Courier New"/>
              </a:rPr>
              <a:t># Définir les modèles de base</a:t>
            </a:r>
            <a:endParaRPr b="0">
              <a:solidFill>
                <a:srgbClr val="000000"/>
              </a:solidFill>
              <a:latin typeface="Courier New"/>
              <a:ea typeface="Courier New"/>
              <a:cs typeface="Courier New"/>
              <a:sym typeface="Courier New"/>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logreg = LogisticRegression(random_state=</a:t>
            </a:r>
            <a:r>
              <a:rPr b="0" lang="fr">
                <a:solidFill>
                  <a:srgbClr val="116644"/>
                </a:solidFill>
                <a:latin typeface="Courier New"/>
                <a:ea typeface="Courier New"/>
                <a:cs typeface="Courier New"/>
                <a:sym typeface="Courier New"/>
              </a:rPr>
              <a:t>42</a:t>
            </a:r>
            <a:r>
              <a:rPr b="0" lang="fr">
                <a:solidFill>
                  <a:srgbClr val="000000"/>
                </a:solidFill>
                <a:latin typeface="Courier New"/>
                <a:ea typeface="Courier New"/>
                <a:cs typeface="Courier New"/>
                <a:sym typeface="Courier New"/>
              </a:rPr>
              <a:t>, class_weight=</a:t>
            </a:r>
            <a:r>
              <a:rPr b="0" lang="fr">
                <a:solidFill>
                  <a:srgbClr val="A31515"/>
                </a:solidFill>
                <a:latin typeface="Courier New"/>
                <a:ea typeface="Courier New"/>
                <a:cs typeface="Courier New"/>
                <a:sym typeface="Courier New"/>
              </a:rPr>
              <a:t>'balanced'</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rf = RandomForestClassifier(random_state=</a:t>
            </a:r>
            <a:r>
              <a:rPr b="0" lang="fr">
                <a:solidFill>
                  <a:srgbClr val="116644"/>
                </a:solidFill>
                <a:latin typeface="Courier New"/>
                <a:ea typeface="Courier New"/>
                <a:cs typeface="Courier New"/>
                <a:sym typeface="Courier New"/>
              </a:rPr>
              <a:t>42</a:t>
            </a:r>
            <a:r>
              <a:rPr b="0" lang="fr">
                <a:solidFill>
                  <a:srgbClr val="000000"/>
                </a:solidFill>
                <a:latin typeface="Courier New"/>
                <a:ea typeface="Courier New"/>
                <a:cs typeface="Courier New"/>
                <a:sym typeface="Courier New"/>
              </a:rPr>
              <a:t>, class_weight=</a:t>
            </a:r>
            <a:r>
              <a:rPr b="0" lang="fr">
                <a:solidFill>
                  <a:srgbClr val="A31515"/>
                </a:solidFill>
                <a:latin typeface="Courier New"/>
                <a:ea typeface="Courier New"/>
                <a:cs typeface="Courier New"/>
                <a:sym typeface="Courier New"/>
              </a:rPr>
              <a:t>'balanced'</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gb = GradientBoostingClassifier(random_state=</a:t>
            </a:r>
            <a:r>
              <a:rPr b="0" lang="fr">
                <a:solidFill>
                  <a:srgbClr val="116644"/>
                </a:solidFill>
                <a:latin typeface="Courier New"/>
                <a:ea typeface="Courier New"/>
                <a:cs typeface="Courier New"/>
                <a:sym typeface="Courier New"/>
              </a:rPr>
              <a:t>42</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svm = SVC(probability=</a:t>
            </a:r>
            <a:r>
              <a:rPr b="0" lang="fr">
                <a:solidFill>
                  <a:srgbClr val="0000FF"/>
                </a:solidFill>
                <a:latin typeface="Courier New"/>
                <a:ea typeface="Courier New"/>
                <a:cs typeface="Courier New"/>
                <a:sym typeface="Courier New"/>
              </a:rPr>
              <a:t>True</a:t>
            </a:r>
            <a:r>
              <a:rPr b="0" lang="fr">
                <a:solidFill>
                  <a:srgbClr val="000000"/>
                </a:solidFill>
                <a:latin typeface="Courier New"/>
                <a:ea typeface="Courier New"/>
                <a:cs typeface="Courier New"/>
                <a:sym typeface="Courier New"/>
              </a:rPr>
              <a:t>, random_state=</a:t>
            </a:r>
            <a:r>
              <a:rPr b="0" lang="fr">
                <a:solidFill>
                  <a:srgbClr val="116644"/>
                </a:solidFill>
                <a:latin typeface="Courier New"/>
                <a:ea typeface="Courier New"/>
                <a:cs typeface="Courier New"/>
                <a:sym typeface="Courier New"/>
              </a:rPr>
              <a:t>42</a:t>
            </a:r>
            <a:r>
              <a:rPr b="0" lang="fr">
                <a:solidFill>
                  <a:srgbClr val="000000"/>
                </a:solidFill>
                <a:latin typeface="Courier New"/>
                <a:ea typeface="Courier New"/>
                <a:cs typeface="Courier New"/>
                <a:sym typeface="Courier New"/>
              </a:rPr>
              <a:t>, class_weight=</a:t>
            </a:r>
            <a:r>
              <a:rPr b="0" lang="fr">
                <a:solidFill>
                  <a:srgbClr val="A31515"/>
                </a:solidFill>
                <a:latin typeface="Courier New"/>
                <a:ea typeface="Courier New"/>
                <a:cs typeface="Courier New"/>
                <a:sym typeface="Courier New"/>
              </a:rPr>
              <a:t>'balanced'</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br>
              <a:rPr b="0" lang="fr">
                <a:solidFill>
                  <a:srgbClr val="000000"/>
                </a:solidFill>
                <a:latin typeface="Courier New"/>
                <a:ea typeface="Courier New"/>
                <a:cs typeface="Courier New"/>
                <a:sym typeface="Courier New"/>
              </a:rPr>
            </a:br>
            <a:r>
              <a:rPr b="0" lang="fr">
                <a:solidFill>
                  <a:srgbClr val="008000"/>
                </a:solidFill>
                <a:latin typeface="Courier New"/>
                <a:ea typeface="Courier New"/>
                <a:cs typeface="Courier New"/>
                <a:sym typeface="Courier New"/>
              </a:rPr>
              <a:t># Création du modèle de stacking</a:t>
            </a:r>
            <a:endParaRPr b="0">
              <a:solidFill>
                <a:srgbClr val="000000"/>
              </a:solidFill>
              <a:latin typeface="Courier New"/>
              <a:ea typeface="Courier New"/>
              <a:cs typeface="Courier New"/>
              <a:sym typeface="Courier New"/>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estimators = [(</a:t>
            </a:r>
            <a:r>
              <a:rPr b="0" lang="fr">
                <a:solidFill>
                  <a:srgbClr val="A31515"/>
                </a:solidFill>
                <a:latin typeface="Courier New"/>
                <a:ea typeface="Courier New"/>
                <a:cs typeface="Courier New"/>
                <a:sym typeface="Courier New"/>
              </a:rPr>
              <a:t>'rf'</a:t>
            </a:r>
            <a:r>
              <a:rPr b="0" lang="fr">
                <a:solidFill>
                  <a:srgbClr val="000000"/>
                </a:solidFill>
                <a:latin typeface="Courier New"/>
                <a:ea typeface="Courier New"/>
                <a:cs typeface="Courier New"/>
                <a:sym typeface="Courier New"/>
              </a:rPr>
              <a:t>, rf), (</a:t>
            </a:r>
            <a:r>
              <a:rPr b="0" lang="fr">
                <a:solidFill>
                  <a:srgbClr val="A31515"/>
                </a:solidFill>
                <a:latin typeface="Courier New"/>
                <a:ea typeface="Courier New"/>
                <a:cs typeface="Courier New"/>
                <a:sym typeface="Courier New"/>
              </a:rPr>
              <a:t>'gb'</a:t>
            </a:r>
            <a:r>
              <a:rPr b="0" lang="fr">
                <a:solidFill>
                  <a:srgbClr val="000000"/>
                </a:solidFill>
                <a:latin typeface="Courier New"/>
                <a:ea typeface="Courier New"/>
                <a:cs typeface="Courier New"/>
                <a:sym typeface="Courier New"/>
              </a:rPr>
              <a:t>, gb), (</a:t>
            </a:r>
            <a:r>
              <a:rPr b="0" lang="fr">
                <a:solidFill>
                  <a:srgbClr val="A31515"/>
                </a:solidFill>
                <a:latin typeface="Courier New"/>
                <a:ea typeface="Courier New"/>
                <a:cs typeface="Courier New"/>
                <a:sym typeface="Courier New"/>
              </a:rPr>
              <a:t>'svm'</a:t>
            </a:r>
            <a:r>
              <a:rPr b="0" lang="fr">
                <a:solidFill>
                  <a:srgbClr val="000000"/>
                </a:solidFill>
                <a:latin typeface="Courier New"/>
                <a:ea typeface="Courier New"/>
                <a:cs typeface="Courier New"/>
                <a:sym typeface="Courier New"/>
              </a:rPr>
              <a:t>, svm)]</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stacking_model = StackingClassifier(estimators=estimators, final_estimator=LogisticRegression(), cv=</a:t>
            </a:r>
            <a:r>
              <a:rPr b="0" lang="fr">
                <a:solidFill>
                  <a:srgbClr val="116644"/>
                </a:solidFill>
                <a:latin typeface="Courier New"/>
                <a:ea typeface="Courier New"/>
                <a:cs typeface="Courier New"/>
                <a:sym typeface="Courier New"/>
              </a:rPr>
              <a:t>5</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8000"/>
              </a:buClr>
              <a:buSzPct val="100000"/>
              <a:buNone/>
            </a:pPr>
            <a:r>
              <a:rPr b="0" lang="fr">
                <a:solidFill>
                  <a:srgbClr val="008000"/>
                </a:solidFill>
                <a:latin typeface="Courier New"/>
                <a:ea typeface="Courier New"/>
                <a:cs typeface="Courier New"/>
                <a:sym typeface="Courier New"/>
              </a:rPr>
              <a:t># Entraîner tous les modèles</a:t>
            </a:r>
            <a:endParaRPr b="0">
              <a:solidFill>
                <a:srgbClr val="000000"/>
              </a:solidFill>
              <a:latin typeface="Courier New"/>
              <a:ea typeface="Courier New"/>
              <a:cs typeface="Courier New"/>
              <a:sym typeface="Courier New"/>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models = {</a:t>
            </a:r>
            <a:r>
              <a:rPr b="0" lang="fr">
                <a:solidFill>
                  <a:srgbClr val="A31515"/>
                </a:solidFill>
                <a:latin typeface="Courier New"/>
                <a:ea typeface="Courier New"/>
                <a:cs typeface="Courier New"/>
                <a:sym typeface="Courier New"/>
              </a:rPr>
              <a:t>'Logistic Regression'</a:t>
            </a:r>
            <a:r>
              <a:rPr b="0" lang="fr">
                <a:solidFill>
                  <a:srgbClr val="000000"/>
                </a:solidFill>
                <a:latin typeface="Courier New"/>
                <a:ea typeface="Courier New"/>
                <a:cs typeface="Courier New"/>
                <a:sym typeface="Courier New"/>
              </a:rPr>
              <a:t>: logreg,</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A31515"/>
                </a:solidFill>
                <a:latin typeface="Courier New"/>
                <a:ea typeface="Courier New"/>
                <a:cs typeface="Courier New"/>
                <a:sym typeface="Courier New"/>
              </a:rPr>
              <a:t>'Random Forest'</a:t>
            </a:r>
            <a:r>
              <a:rPr b="0" lang="fr">
                <a:solidFill>
                  <a:srgbClr val="000000"/>
                </a:solidFill>
                <a:latin typeface="Courier New"/>
                <a:ea typeface="Courier New"/>
                <a:cs typeface="Courier New"/>
                <a:sym typeface="Courier New"/>
              </a:rPr>
              <a:t>: rf,</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A31515"/>
                </a:solidFill>
                <a:latin typeface="Courier New"/>
                <a:ea typeface="Courier New"/>
                <a:cs typeface="Courier New"/>
                <a:sym typeface="Courier New"/>
              </a:rPr>
              <a:t>'Gradient Boosting'</a:t>
            </a:r>
            <a:r>
              <a:rPr b="0" lang="fr">
                <a:solidFill>
                  <a:srgbClr val="000000"/>
                </a:solidFill>
                <a:latin typeface="Courier New"/>
                <a:ea typeface="Courier New"/>
                <a:cs typeface="Courier New"/>
                <a:sym typeface="Courier New"/>
              </a:rPr>
              <a:t>: gb,</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A31515"/>
                </a:solidFill>
                <a:latin typeface="Courier New"/>
                <a:ea typeface="Courier New"/>
                <a:cs typeface="Courier New"/>
                <a:sym typeface="Courier New"/>
              </a:rPr>
              <a:t>'SVM'</a:t>
            </a:r>
            <a:r>
              <a:rPr b="0" lang="fr">
                <a:solidFill>
                  <a:srgbClr val="000000"/>
                </a:solidFill>
                <a:latin typeface="Courier New"/>
                <a:ea typeface="Courier New"/>
                <a:cs typeface="Courier New"/>
                <a:sym typeface="Courier New"/>
              </a:rPr>
              <a:t>: svm,</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A31515"/>
                </a:solidFill>
                <a:latin typeface="Courier New"/>
                <a:ea typeface="Courier New"/>
                <a:cs typeface="Courier New"/>
                <a:sym typeface="Courier New"/>
              </a:rPr>
              <a:t>'Stacking'</a:t>
            </a:r>
            <a:r>
              <a:rPr b="0" lang="fr">
                <a:solidFill>
                  <a:srgbClr val="000000"/>
                </a:solidFill>
                <a:latin typeface="Courier New"/>
                <a:ea typeface="Courier New"/>
                <a:cs typeface="Courier New"/>
                <a:sym typeface="Courier New"/>
              </a:rPr>
              <a:t>: stacking_model}</a:t>
            </a:r>
            <a:endParaRPr/>
          </a:p>
          <a:p>
            <a:pPr indent="0" lvl="0" marL="0" rtl="0" algn="l">
              <a:lnSpc>
                <a:spcPct val="90000"/>
              </a:lnSpc>
              <a:spcBef>
                <a:spcPts val="800"/>
              </a:spcBef>
              <a:spcAft>
                <a:spcPts val="0"/>
              </a:spcAft>
              <a:buClr>
                <a:srgbClr val="000000"/>
              </a:buClr>
              <a:buSzPct val="100000"/>
              <a:buNone/>
            </a:pPr>
            <a:br>
              <a:rPr b="0" lang="fr">
                <a:solidFill>
                  <a:srgbClr val="000000"/>
                </a:solidFill>
                <a:latin typeface="Courier New"/>
                <a:ea typeface="Courier New"/>
                <a:cs typeface="Courier New"/>
                <a:sym typeface="Courier New"/>
              </a:rPr>
            </a:br>
            <a:r>
              <a:rPr b="0" lang="fr">
                <a:solidFill>
                  <a:srgbClr val="AF00DB"/>
                </a:solidFill>
                <a:latin typeface="Courier New"/>
                <a:ea typeface="Courier New"/>
                <a:cs typeface="Courier New"/>
                <a:sym typeface="Courier New"/>
              </a:rPr>
              <a:t>for</a:t>
            </a:r>
            <a:r>
              <a:rPr b="0" lang="fr">
                <a:solidFill>
                  <a:srgbClr val="000000"/>
                </a:solidFill>
                <a:latin typeface="Courier New"/>
                <a:ea typeface="Courier New"/>
                <a:cs typeface="Courier New"/>
                <a:sym typeface="Courier New"/>
              </a:rPr>
              <a:t> name, model </a:t>
            </a:r>
            <a:r>
              <a:rPr b="0" lang="fr">
                <a:solidFill>
                  <a:srgbClr val="0000FF"/>
                </a:solidFill>
                <a:latin typeface="Courier New"/>
                <a:ea typeface="Courier New"/>
                <a:cs typeface="Courier New"/>
                <a:sym typeface="Courier New"/>
              </a:rPr>
              <a:t>in</a:t>
            </a:r>
            <a:r>
              <a:rPr b="0" lang="fr">
                <a:solidFill>
                  <a:srgbClr val="000000"/>
                </a:solidFill>
                <a:latin typeface="Courier New"/>
                <a:ea typeface="Courier New"/>
                <a:cs typeface="Courier New"/>
                <a:sym typeface="Courier New"/>
              </a:rPr>
              <a:t> models.items():</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"Training </a:t>
            </a:r>
            <a:r>
              <a:rPr b="0" lang="fr">
                <a:solidFill>
                  <a:srgbClr val="000000"/>
                </a:solidFill>
                <a:latin typeface="Courier New"/>
                <a:ea typeface="Courier New"/>
                <a:cs typeface="Courier New"/>
                <a:sym typeface="Courier New"/>
              </a:rPr>
              <a:t>{name}</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model.fit(X_train, y_train)</a:t>
            </a:r>
            <a:endParaRPr/>
          </a:p>
        </p:txBody>
      </p:sp>
      <p:pic>
        <p:nvPicPr>
          <p:cNvPr descr="Pignons Clipart Engrenages Mécaniques Colorés Et Engrenages Sur Fond Blanc  Illustration Vectorielle Dessin Animé PNG , Rouages, Clipart, Dessin Animé  PNG et vecteur pour téléchargement gratuit" id="233" name="Google Shape;233;p39"/>
          <p:cNvPicPr preferRelativeResize="0"/>
          <p:nvPr/>
        </p:nvPicPr>
        <p:blipFill rotWithShape="1">
          <a:blip r:embed="rId3">
            <a:alphaModFix/>
          </a:blip>
          <a:srcRect b="0" l="0" r="0" t="0"/>
          <a:stretch/>
        </p:blipFill>
        <p:spPr>
          <a:xfrm>
            <a:off x="5717485" y="1607654"/>
            <a:ext cx="3192946" cy="319294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lang="fr"/>
              <a:t>Evaluation des modèles :</a:t>
            </a:r>
            <a:endParaRPr/>
          </a:p>
        </p:txBody>
      </p:sp>
      <p:sp>
        <p:nvSpPr>
          <p:cNvPr id="239" name="Google Shape;239;p40"/>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fontScale="47500" lnSpcReduction="20000"/>
          </a:bodyPr>
          <a:lstStyle/>
          <a:p>
            <a:pPr indent="0" lvl="0" marL="0" rtl="0" algn="l">
              <a:lnSpc>
                <a:spcPct val="90000"/>
              </a:lnSpc>
              <a:spcBef>
                <a:spcPts val="0"/>
              </a:spcBef>
              <a:spcAft>
                <a:spcPts val="0"/>
              </a:spcAft>
              <a:buClr>
                <a:srgbClr val="008000"/>
              </a:buClr>
              <a:buSzPct val="100000"/>
              <a:buNone/>
            </a:pPr>
            <a:r>
              <a:rPr b="0" lang="fr">
                <a:solidFill>
                  <a:srgbClr val="008000"/>
                </a:solidFill>
                <a:latin typeface="Courier New"/>
                <a:ea typeface="Courier New"/>
                <a:cs typeface="Courier New"/>
                <a:sym typeface="Courier New"/>
              </a:rPr>
              <a:t># Fonction pour évaluer un modèle</a:t>
            </a:r>
            <a:endParaRPr b="0">
              <a:solidFill>
                <a:srgbClr val="000000"/>
              </a:solidFill>
              <a:latin typeface="Courier New"/>
              <a:ea typeface="Courier New"/>
              <a:cs typeface="Courier New"/>
              <a:sym typeface="Courier New"/>
            </a:endParaRPr>
          </a:p>
          <a:p>
            <a:pPr indent="0" lvl="0" marL="0" rtl="0" algn="l">
              <a:lnSpc>
                <a:spcPct val="90000"/>
              </a:lnSpc>
              <a:spcBef>
                <a:spcPts val="800"/>
              </a:spcBef>
              <a:spcAft>
                <a:spcPts val="0"/>
              </a:spcAft>
              <a:buClr>
                <a:srgbClr val="0000FF"/>
              </a:buClr>
              <a:buSzPct val="100000"/>
              <a:buNone/>
            </a:pPr>
            <a:r>
              <a:rPr b="0" lang="fr">
                <a:solidFill>
                  <a:srgbClr val="0000FF"/>
                </a:solidFill>
                <a:latin typeface="Courier New"/>
                <a:ea typeface="Courier New"/>
                <a:cs typeface="Courier New"/>
                <a:sym typeface="Courier New"/>
              </a:rPr>
              <a:t>def</a:t>
            </a: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evaluate_model</a:t>
            </a:r>
            <a:r>
              <a:rPr b="0" lang="fr">
                <a:solidFill>
                  <a:srgbClr val="000000"/>
                </a:solidFill>
                <a:latin typeface="Courier New"/>
                <a:ea typeface="Courier New"/>
                <a:cs typeface="Courier New"/>
                <a:sym typeface="Courier New"/>
              </a:rPr>
              <a:t>(</a:t>
            </a:r>
            <a:r>
              <a:rPr b="0" lang="fr">
                <a:solidFill>
                  <a:srgbClr val="001080"/>
                </a:solidFill>
                <a:latin typeface="Courier New"/>
                <a:ea typeface="Courier New"/>
                <a:cs typeface="Courier New"/>
                <a:sym typeface="Courier New"/>
              </a:rPr>
              <a:t>model</a:t>
            </a:r>
            <a:r>
              <a:rPr b="0" lang="fr">
                <a:solidFill>
                  <a:srgbClr val="000000"/>
                </a:solidFill>
                <a:latin typeface="Courier New"/>
                <a:ea typeface="Courier New"/>
                <a:cs typeface="Courier New"/>
                <a:sym typeface="Courier New"/>
              </a:rPr>
              <a:t>, </a:t>
            </a:r>
            <a:r>
              <a:rPr b="0" lang="fr">
                <a:solidFill>
                  <a:srgbClr val="001080"/>
                </a:solidFill>
                <a:latin typeface="Courier New"/>
                <a:ea typeface="Courier New"/>
                <a:cs typeface="Courier New"/>
                <a:sym typeface="Courier New"/>
              </a:rPr>
              <a:t>X_test</a:t>
            </a:r>
            <a:r>
              <a:rPr b="0" lang="fr">
                <a:solidFill>
                  <a:srgbClr val="000000"/>
                </a:solidFill>
                <a:latin typeface="Courier New"/>
                <a:ea typeface="Courier New"/>
                <a:cs typeface="Courier New"/>
                <a:sym typeface="Courier New"/>
              </a:rPr>
              <a:t>, </a:t>
            </a:r>
            <a:r>
              <a:rPr b="0" lang="fr">
                <a:solidFill>
                  <a:srgbClr val="001080"/>
                </a:solidFill>
                <a:latin typeface="Courier New"/>
                <a:ea typeface="Courier New"/>
                <a:cs typeface="Courier New"/>
                <a:sym typeface="Courier New"/>
              </a:rPr>
              <a:t>y_test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y_pred = model.predict(X_test)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'Accuracy: </a:t>
            </a:r>
            <a:r>
              <a:rPr b="0" lang="fr">
                <a:solidFill>
                  <a:srgbClr val="000000"/>
                </a:solidFill>
                <a:latin typeface="Courier New"/>
                <a:ea typeface="Courier New"/>
                <a:cs typeface="Courier New"/>
                <a:sym typeface="Courier New"/>
              </a:rPr>
              <a:t>{accuracy_score(y_test, y_pred)</a:t>
            </a:r>
            <a:r>
              <a:rPr b="0" lang="fr">
                <a:solidFill>
                  <a:srgbClr val="116644"/>
                </a:solidFill>
                <a:latin typeface="Courier New"/>
                <a:ea typeface="Courier New"/>
                <a:cs typeface="Courier New"/>
                <a:sym typeface="Courier New"/>
              </a:rPr>
              <a:t>:.4f</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'Precision: </a:t>
            </a:r>
            <a:r>
              <a:rPr b="0" lang="fr">
                <a:solidFill>
                  <a:srgbClr val="000000"/>
                </a:solidFill>
                <a:latin typeface="Courier New"/>
                <a:ea typeface="Courier New"/>
                <a:cs typeface="Courier New"/>
                <a:sym typeface="Courier New"/>
              </a:rPr>
              <a:t>{precision_score(y_test, y_pred)</a:t>
            </a:r>
            <a:r>
              <a:rPr b="0" lang="fr">
                <a:solidFill>
                  <a:srgbClr val="116644"/>
                </a:solidFill>
                <a:latin typeface="Courier New"/>
                <a:ea typeface="Courier New"/>
                <a:cs typeface="Courier New"/>
                <a:sym typeface="Courier New"/>
              </a:rPr>
              <a:t>:.4f</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'Recall: </a:t>
            </a:r>
            <a:r>
              <a:rPr b="0" lang="fr">
                <a:solidFill>
                  <a:srgbClr val="000000"/>
                </a:solidFill>
                <a:latin typeface="Courier New"/>
                <a:ea typeface="Courier New"/>
                <a:cs typeface="Courier New"/>
                <a:sym typeface="Courier New"/>
              </a:rPr>
              <a:t>{recall_score(y_test, y_pred)</a:t>
            </a:r>
            <a:r>
              <a:rPr b="0" lang="fr">
                <a:solidFill>
                  <a:srgbClr val="116644"/>
                </a:solidFill>
                <a:latin typeface="Courier New"/>
                <a:ea typeface="Courier New"/>
                <a:cs typeface="Courier New"/>
                <a:sym typeface="Courier New"/>
              </a:rPr>
              <a:t>:.4f</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'F1 Score: </a:t>
            </a:r>
            <a:r>
              <a:rPr b="0" lang="fr">
                <a:solidFill>
                  <a:srgbClr val="000000"/>
                </a:solidFill>
                <a:latin typeface="Courier New"/>
                <a:ea typeface="Courier New"/>
                <a:cs typeface="Courier New"/>
                <a:sym typeface="Courier New"/>
              </a:rPr>
              <a:t>{f1_score(y_test, y_pred)</a:t>
            </a:r>
            <a:r>
              <a:rPr b="0" lang="fr">
                <a:solidFill>
                  <a:srgbClr val="116644"/>
                </a:solidFill>
                <a:latin typeface="Courier New"/>
                <a:ea typeface="Courier New"/>
                <a:cs typeface="Courier New"/>
                <a:sym typeface="Courier New"/>
              </a:rPr>
              <a:t>:.4f</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'Confusion Matrix for </a:t>
            </a:r>
            <a:r>
              <a:rPr b="0" lang="fr">
                <a:solidFill>
                  <a:srgbClr val="000000"/>
                </a:solidFill>
                <a:latin typeface="Courier New"/>
                <a:ea typeface="Courier New"/>
                <a:cs typeface="Courier New"/>
                <a:sym typeface="Courier New"/>
              </a:rPr>
              <a:t>{model.</a:t>
            </a:r>
            <a:r>
              <a:rPr b="0" lang="fr">
                <a:solidFill>
                  <a:srgbClr val="001080"/>
                </a:solidFill>
                <a:latin typeface="Courier New"/>
                <a:ea typeface="Courier New"/>
                <a:cs typeface="Courier New"/>
                <a:sym typeface="Courier New"/>
              </a:rPr>
              <a:t>__class__</a:t>
            </a:r>
            <a:r>
              <a:rPr b="0" lang="fr">
                <a:solidFill>
                  <a:srgbClr val="000000"/>
                </a:solidFill>
                <a:latin typeface="Courier New"/>
                <a:ea typeface="Courier New"/>
                <a:cs typeface="Courier New"/>
                <a:sym typeface="Courier New"/>
              </a:rPr>
              <a:t>.</a:t>
            </a:r>
            <a:r>
              <a:rPr b="0" lang="fr">
                <a:solidFill>
                  <a:srgbClr val="001080"/>
                </a:solidFill>
                <a:latin typeface="Courier New"/>
                <a:ea typeface="Courier New"/>
                <a:cs typeface="Courier New"/>
                <a:sym typeface="Courier New"/>
              </a:rPr>
              <a:t>__name__</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(confusion_matrix(y_test, y_pred))</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'\nClassification Report'</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(classification_report(y_test, y_pred))</a:t>
            </a:r>
            <a:endParaRPr/>
          </a:p>
          <a:p>
            <a:pPr indent="0" lvl="0" marL="0" rtl="0" algn="l">
              <a:lnSpc>
                <a:spcPct val="90000"/>
              </a:lnSpc>
              <a:spcBef>
                <a:spcPts val="800"/>
              </a:spcBef>
              <a:spcAft>
                <a:spcPts val="0"/>
              </a:spcAft>
              <a:buClr>
                <a:srgbClr val="000000"/>
              </a:buClr>
              <a:buSzPct val="100000"/>
              <a:buNone/>
            </a:pPr>
            <a:br>
              <a:rPr b="0" lang="fr">
                <a:solidFill>
                  <a:srgbClr val="000000"/>
                </a:solidFill>
                <a:latin typeface="Courier New"/>
                <a:ea typeface="Courier New"/>
                <a:cs typeface="Courier New"/>
                <a:sym typeface="Courier New"/>
              </a:rPr>
            </a:br>
            <a:r>
              <a:rPr b="0" lang="fr">
                <a:solidFill>
                  <a:srgbClr val="AF00DB"/>
                </a:solidFill>
                <a:latin typeface="Courier New"/>
                <a:ea typeface="Courier New"/>
                <a:cs typeface="Courier New"/>
                <a:sym typeface="Courier New"/>
              </a:rPr>
              <a:t>for</a:t>
            </a:r>
            <a:r>
              <a:rPr b="0" lang="fr">
                <a:solidFill>
                  <a:srgbClr val="000000"/>
                </a:solidFill>
                <a:latin typeface="Courier New"/>
                <a:ea typeface="Courier New"/>
                <a:cs typeface="Courier New"/>
                <a:sym typeface="Courier New"/>
              </a:rPr>
              <a:t> name, model </a:t>
            </a:r>
            <a:r>
              <a:rPr b="0" lang="fr">
                <a:solidFill>
                  <a:srgbClr val="0000FF"/>
                </a:solidFill>
                <a:latin typeface="Courier New"/>
                <a:ea typeface="Courier New"/>
                <a:cs typeface="Courier New"/>
                <a:sym typeface="Courier New"/>
              </a:rPr>
              <a:t>in</a:t>
            </a:r>
            <a:r>
              <a:rPr b="0" lang="fr">
                <a:solidFill>
                  <a:srgbClr val="000000"/>
                </a:solidFill>
                <a:latin typeface="Courier New"/>
                <a:ea typeface="Courier New"/>
                <a:cs typeface="Courier New"/>
                <a:sym typeface="Courier New"/>
              </a:rPr>
              <a:t> models.items():</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0000FF"/>
                </a:solidFill>
                <a:latin typeface="Courier New"/>
                <a:ea typeface="Courier New"/>
                <a:cs typeface="Courier New"/>
                <a:sym typeface="Courier New"/>
              </a:rPr>
              <a:t>f</a:t>
            </a:r>
            <a:r>
              <a:rPr b="0" lang="fr">
                <a:solidFill>
                  <a:srgbClr val="A31515"/>
                </a:solidFill>
                <a:latin typeface="Courier New"/>
                <a:ea typeface="Courier New"/>
                <a:cs typeface="Courier New"/>
                <a:sym typeface="Courier New"/>
              </a:rPr>
              <a:t>"=== Evaluation for </a:t>
            </a:r>
            <a:r>
              <a:rPr b="0" lang="fr">
                <a:solidFill>
                  <a:srgbClr val="000000"/>
                </a:solidFill>
                <a:latin typeface="Courier New"/>
                <a:ea typeface="Courier New"/>
                <a:cs typeface="Courier New"/>
                <a:sym typeface="Courier New"/>
              </a:rPr>
              <a:t>{name}</a:t>
            </a:r>
            <a:r>
              <a:rPr b="0" lang="fr">
                <a:solidFill>
                  <a:srgbClr val="A31515"/>
                </a:solidFill>
                <a:latin typeface="Courier New"/>
                <a:ea typeface="Courier New"/>
                <a:cs typeface="Courier New"/>
                <a:sym typeface="Courier New"/>
              </a:rPr>
              <a:t> ==="</a:t>
            </a:r>
            <a:r>
              <a:rPr b="0" lang="fr">
                <a:solidFill>
                  <a:srgbClr val="000000"/>
                </a:solidFill>
                <a:latin typeface="Courier New"/>
                <a:ea typeface="Courier New"/>
                <a:cs typeface="Courier New"/>
                <a:sym typeface="Courier New"/>
              </a:rPr>
              <a: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evaluate_model(model, X_test, y_test)</a:t>
            </a:r>
            <a:endParaRPr/>
          </a:p>
          <a:p>
            <a:pPr indent="0" lvl="0" marL="0" rtl="0" algn="l">
              <a:lnSpc>
                <a:spcPct val="90000"/>
              </a:lnSpc>
              <a:spcBef>
                <a:spcPts val="800"/>
              </a:spcBef>
              <a:spcAft>
                <a:spcPts val="0"/>
              </a:spcAft>
              <a:buClr>
                <a:srgbClr val="000000"/>
              </a:buClr>
              <a:buSzPct val="100000"/>
              <a:buNone/>
            </a:pPr>
            <a:r>
              <a:rPr b="0" lang="fr">
                <a:solidFill>
                  <a:srgbClr val="000000"/>
                </a:solidFill>
                <a:latin typeface="Courier New"/>
                <a:ea typeface="Courier New"/>
                <a:cs typeface="Courier New"/>
                <a:sym typeface="Courier New"/>
              </a:rPr>
              <a:t>    </a:t>
            </a:r>
            <a:r>
              <a:rPr b="0" lang="fr">
                <a:solidFill>
                  <a:srgbClr val="795E26"/>
                </a:solidFill>
                <a:latin typeface="Courier New"/>
                <a:ea typeface="Courier New"/>
                <a:cs typeface="Courier New"/>
                <a:sym typeface="Courier New"/>
              </a:rPr>
              <a:t>print</a:t>
            </a:r>
            <a:r>
              <a:rPr b="0" lang="fr">
                <a:solidFill>
                  <a:srgbClr val="000000"/>
                </a:solidFill>
                <a:latin typeface="Courier New"/>
                <a:ea typeface="Courier New"/>
                <a:cs typeface="Courier New"/>
                <a:sym typeface="Courier New"/>
              </a:rPr>
              <a:t>(</a:t>
            </a:r>
            <a:r>
              <a:rPr b="0" lang="fr">
                <a:solidFill>
                  <a:srgbClr val="A31515"/>
                </a:solidFill>
                <a:latin typeface="Courier New"/>
                <a:ea typeface="Courier New"/>
                <a:cs typeface="Courier New"/>
                <a:sym typeface="Courier New"/>
              </a:rPr>
              <a:t>'-'</a:t>
            </a:r>
            <a:r>
              <a:rPr b="0" lang="fr">
                <a:solidFill>
                  <a:srgbClr val="000000"/>
                </a:solidFill>
                <a:latin typeface="Courier New"/>
                <a:ea typeface="Courier New"/>
                <a:cs typeface="Courier New"/>
                <a:sym typeface="Courier New"/>
              </a:rPr>
              <a:t> * </a:t>
            </a:r>
            <a:r>
              <a:rPr b="0" lang="fr">
                <a:solidFill>
                  <a:srgbClr val="116644"/>
                </a:solidFill>
                <a:latin typeface="Courier New"/>
                <a:ea typeface="Courier New"/>
                <a:cs typeface="Courier New"/>
                <a:sym typeface="Courier New"/>
              </a:rPr>
              <a:t>60</a:t>
            </a:r>
            <a:r>
              <a:rPr b="0" lang="fr">
                <a:solidFill>
                  <a:srgbClr val="000000"/>
                </a:solidFill>
                <a:latin typeface="Courier New"/>
                <a:ea typeface="Courier New"/>
                <a:cs typeface="Courier New"/>
                <a:sym typeface="Courier New"/>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type="title"/>
          </p:nvPr>
        </p:nvSpPr>
        <p:spPr>
          <a:xfrm>
            <a:off x="4572025" y="-76200"/>
            <a:ext cx="4572000" cy="5143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Evaluation for Gradient Boosting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Accuracy: 0.8792</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Precision: 0.2831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Recall: 0.3280</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F1 Score: 0.3039</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Confusion Matrix for GradientBoostingClassifier</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[[2005  157]</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[ 127   62]]</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Classification Report</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precision    recall  f1-score   support</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0       0.94      0.93      0.93      2162</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1       0.28      0.33      0.30       189</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accuracy                           0.88      2351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macro avg       0.61      0.63      0.62      2351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weighted avg       0.89      0.88      0.88      2351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Evaluation for SVM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Accuracy: 0.8239</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Precision: 0.2108</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Recall: 0.4339</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F1 Score: 0.2837</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Confusion Matrix for SVC</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[[1855  307]</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[ 107   82]]</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Classification Report</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precision    recall  f1-score   support</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0       0.95      0.86      0.90      2162</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1       0.21      0.43      0.28       189</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accuracy                           0.82      2351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   macro avg       0.58      0.65      0.59      2351</a:t>
            </a:r>
            <a:endParaRPr sz="845">
              <a:solidFill>
                <a:srgbClr val="212121"/>
              </a:solidFill>
              <a:highlight>
                <a:srgbClr val="FFFFFF"/>
              </a:highlight>
              <a:latin typeface="Courier New"/>
              <a:ea typeface="Courier New"/>
              <a:cs typeface="Courier New"/>
              <a:sym typeface="Courier New"/>
            </a:endParaRPr>
          </a:p>
          <a:p>
            <a:pPr indent="0" lvl="0" marL="0" rtl="0" algn="ctr">
              <a:spcBef>
                <a:spcPts val="0"/>
              </a:spcBef>
              <a:spcAft>
                <a:spcPts val="0"/>
              </a:spcAft>
              <a:buSzPts val="990"/>
              <a:buNone/>
            </a:pPr>
            <a:r>
              <a:rPr lang="fr" sz="845">
                <a:solidFill>
                  <a:srgbClr val="212121"/>
                </a:solidFill>
                <a:highlight>
                  <a:srgbClr val="FFFFFF"/>
                </a:highlight>
                <a:latin typeface="Courier New"/>
                <a:ea typeface="Courier New"/>
                <a:cs typeface="Courier New"/>
                <a:sym typeface="Courier New"/>
              </a:rPr>
              <a:t>weighted avg       0.89      0.82      0.85      23</a:t>
            </a:r>
            <a:r>
              <a:rPr lang="fr" sz="845">
                <a:solidFill>
                  <a:srgbClr val="212121"/>
                </a:solidFill>
                <a:highlight>
                  <a:srgbClr val="FFFFFF"/>
                </a:highlight>
                <a:latin typeface="Courier New"/>
                <a:ea typeface="Courier New"/>
                <a:cs typeface="Courier New"/>
                <a:sym typeface="Courier New"/>
              </a:rPr>
              <a:t>51</a:t>
            </a:r>
            <a:endParaRPr sz="2870"/>
          </a:p>
        </p:txBody>
      </p:sp>
      <p:sp>
        <p:nvSpPr>
          <p:cNvPr id="245" name="Google Shape;245;p41"/>
          <p:cNvSpPr txBox="1"/>
          <p:nvPr/>
        </p:nvSpPr>
        <p:spPr>
          <a:xfrm>
            <a:off x="25" y="228600"/>
            <a:ext cx="4572000" cy="5143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Evaluation for Logistic Regression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Accuracy: 0.7074</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Precision: 0.1678</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Recall: 0.6667</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F1 Score: 0.2681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Confusion Matrix for LogisticRegression</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[[1537  625]</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  63  126]]</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Classification Report</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precision    recall  f1-score   support</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0       0.96      0.71      0.82      2162</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1       0.17      0.67      0.27       189</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accuracy                           0.71      2351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macro avg       0.56      0.69      0.54      2351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weighted avg       0.90      0.71      0.77      2351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Evaluation for Random Forest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Accuracy: 0.9051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Precision: 0.3152</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Recall: 0.1534</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F1 Score: 0.2064</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Confusion Matrix for RandomForestClassifier</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[[2099   63]</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[ 160   29]]</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Classification Report</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precision    recall  f1-score   support</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0       0.93      0.97      0.95      2162</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1       0.32      0.15      0.21       189</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accuracy                           0.91      2351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   macro avg       0.62      0.56      0.58      2351</a:t>
            </a:r>
            <a:endParaRPr sz="845">
              <a:solidFill>
                <a:srgbClr val="212121"/>
              </a:solidFill>
              <a:highlight>
                <a:srgbClr val="FFFFFF"/>
              </a:highlight>
              <a:latin typeface="Courier New"/>
              <a:ea typeface="Courier New"/>
              <a:cs typeface="Courier New"/>
              <a:sym typeface="Courier New"/>
            </a:endParaRPr>
          </a:p>
          <a:p>
            <a:pPr indent="0" lvl="0" marL="0" rtl="0" algn="ctr">
              <a:lnSpc>
                <a:spcPct val="90000"/>
              </a:lnSpc>
              <a:spcBef>
                <a:spcPts val="0"/>
              </a:spcBef>
              <a:spcAft>
                <a:spcPts val="0"/>
              </a:spcAft>
              <a:buClr>
                <a:schemeClr val="dk1"/>
              </a:buClr>
              <a:buSzPts val="990"/>
              <a:buFont typeface="Arial"/>
              <a:buNone/>
            </a:pPr>
            <a:r>
              <a:rPr lang="fr" sz="845">
                <a:solidFill>
                  <a:srgbClr val="212121"/>
                </a:solidFill>
                <a:highlight>
                  <a:srgbClr val="FFFFFF"/>
                </a:highlight>
                <a:latin typeface="Courier New"/>
                <a:ea typeface="Courier New"/>
                <a:cs typeface="Courier New"/>
                <a:sym typeface="Courier New"/>
              </a:rPr>
              <a:t>weighted avg       0.88      0.91      0.89      2351</a:t>
            </a:r>
            <a:endParaRPr sz="25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idx="1" type="body"/>
          </p:nvPr>
        </p:nvSpPr>
        <p:spPr>
          <a:xfrm>
            <a:off x="628650" y="353961"/>
            <a:ext cx="8168763" cy="4278761"/>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rgbClr val="212121"/>
              </a:buClr>
              <a:buSzPts val="2700"/>
              <a:buNone/>
            </a:pPr>
            <a:r>
              <a:rPr b="0" i="0" lang="fr" sz="2700">
                <a:solidFill>
                  <a:srgbClr val="212121"/>
                </a:solidFill>
                <a:latin typeface="Courier New"/>
                <a:ea typeface="Courier New"/>
                <a:cs typeface="Courier New"/>
                <a:sym typeface="Courier New"/>
              </a:rPr>
              <a:t>=== Evaluation for Stacking === </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Accuracy: 0.9094</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Precision: 0.3571</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Recall: 0.1587</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F1 Score: 0.2198</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Confusion Matrix for StackingClassifier</a:t>
            </a:r>
            <a:endParaRPr sz="2700">
              <a:solidFill>
                <a:srgbClr val="212121"/>
              </a:solidFill>
              <a:latin typeface="Courier New"/>
              <a:ea typeface="Courier New"/>
              <a:cs typeface="Courier New"/>
              <a:sym typeface="Courier New"/>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[[2108 54]</a:t>
            </a:r>
            <a:endParaRPr/>
          </a:p>
          <a:p>
            <a:pPr indent="0" lvl="0" marL="0" rtl="0" algn="ctr">
              <a:lnSpc>
                <a:spcPct val="90000"/>
              </a:lnSpc>
              <a:spcBef>
                <a:spcPts val="800"/>
              </a:spcBef>
              <a:spcAft>
                <a:spcPts val="0"/>
              </a:spcAft>
              <a:buClr>
                <a:srgbClr val="212121"/>
              </a:buClr>
              <a:buSzPts val="2700"/>
              <a:buNone/>
            </a:pPr>
            <a:r>
              <a:rPr b="0" i="0" lang="fr" sz="2700">
                <a:solidFill>
                  <a:srgbClr val="212121"/>
                </a:solidFill>
                <a:latin typeface="Courier New"/>
                <a:ea typeface="Courier New"/>
                <a:cs typeface="Courier New"/>
                <a:sym typeface="Courier New"/>
              </a:rPr>
              <a:t>[ 159 30]]</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43"/>
          <p:cNvPicPr preferRelativeResize="0"/>
          <p:nvPr>
            <p:ph idx="1" type="body"/>
          </p:nvPr>
        </p:nvPicPr>
        <p:blipFill rotWithShape="1">
          <a:blip r:embed="rId3">
            <a:alphaModFix/>
          </a:blip>
          <a:srcRect b="0" l="0" r="0" t="0"/>
          <a:stretch/>
        </p:blipFill>
        <p:spPr>
          <a:xfrm>
            <a:off x="1518831" y="74350"/>
            <a:ext cx="6106338" cy="499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